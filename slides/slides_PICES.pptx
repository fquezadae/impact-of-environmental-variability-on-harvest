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91" y="8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0462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3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398" y="3383835"/>
            <a:ext cx="4483713" cy="45719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398" y="1863290"/>
            <a:ext cx="10362895" cy="12226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The Impact of Environmental Variability on</a:t>
            </a:r>
          </a:p>
          <a:p>
            <a:r>
              <a:rPr lang="en-US" sz="3600" b="1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Fishers' Harvest Decisions in Chile</a:t>
            </a:r>
            <a:endParaRPr lang="en-US" sz="3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914399" y="2715968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3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4399" y="3802212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i="1" dirty="0">
                <a:solidFill>
                  <a:srgbClr val="C4830A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A multi-species structural approach</a:t>
            </a:r>
            <a:endParaRPr lang="en-US" sz="19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399" y="4773368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Felipe J. Quezada-Escalona</a:t>
            </a:r>
            <a:endParaRPr lang="en-US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914399" y="523056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Departamento de Economía, Universidad de Concepción</a:t>
            </a:r>
            <a:endParaRPr lang="en-US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4399" y="564204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ICES/PICES Small Pelagic Symposium  ·  La Paz, México  ·  May 8, 2026</a:t>
            </a:r>
            <a:endParaRPr lang="en-US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14400" y="621792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by ANID-Chile, FONDECYT Iniciación N° 11250223.</a:t>
            </a:r>
            <a:endParaRPr lang="en-US" sz="10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17BCB7B-B740-15FE-C40C-A0FE1B491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577" y="261156"/>
            <a:ext cx="929046" cy="15544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971713F-52B6-D168-810F-3BEF53C52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8" y="719310"/>
            <a:ext cx="3018694" cy="7753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13B63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Motivation</a:t>
            </a:r>
            <a:endParaRPr lang="en-US" sz="3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5853532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Small pelagic stocks fluctuate sharply with climate variability.</a:t>
            </a:r>
            <a:endParaRPr lang="en-US" sz="2000" dirty="0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Standard projection tools assume</a:t>
            </a:r>
            <a:r>
              <a:rPr lang="en-US" sz="2000" b="1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 constant fishing rates or full quota uptake </a:t>
            </a: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— the human decision is assumed away.</a:t>
            </a:r>
            <a:endParaRPr lang="en-US" sz="2000" dirty="0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2000" b="1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But fishers choose </a:t>
            </a: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which species to target, how many trips, how much to land.</a:t>
            </a:r>
            <a:endParaRPr lang="en-US" sz="2000" dirty="0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Image 0" descr="/sessions/tender-gallant-volta/mnt/outputs/pices_build/assets/catch_potential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12484" y="1051560"/>
            <a:ext cx="5122012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612484" y="5166360"/>
            <a:ext cx="51220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475569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Source: Cheung et al. (2010)</a:t>
            </a:r>
            <a:endParaRPr lang="en-US" sz="11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03225" y="5532120"/>
            <a:ext cx="11231270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" y="5550409"/>
            <a:ext cx="54864" cy="713231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94360" y="5550409"/>
            <a:ext cx="11094415" cy="713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i="1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Project goal: </a:t>
            </a:r>
            <a:r>
              <a:rPr lang="en-US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propagate climate-driven biomass shifts into fisher-side responses — participation today (Paper 1), optimal harvest decisions in the full structural model (Paper 2).</a:t>
            </a:r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475569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ICES/PICES SPF · La Paz · May 2026</a:t>
            </a:r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dirty="0">
                <a:solidFill>
                  <a:srgbClr val="475569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2</a:t>
            </a:r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3B63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The project — two papers, one structural pipeline</a:t>
            </a:r>
            <a:endParaRPr lang="en-US" sz="3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487772" cy="39231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chemeClr val="accent3">
                <a:lumMod val="20000"/>
                <a:lumOff val="80000"/>
              </a:schemeClr>
            </a:solidFill>
            <a:prstDash val="solid"/>
          </a:ln>
        </p:spPr>
        <p:txBody>
          <a:bodyPr/>
          <a:lstStyle/>
          <a:p>
            <a:endParaRPr lang="es-CL" sz="2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201003" y="1176762"/>
            <a:ext cx="5487772" cy="39231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chemeClr val="accent3">
                <a:lumMod val="20000"/>
                <a:lumOff val="80000"/>
              </a:schemeClr>
            </a:solidFill>
            <a:prstDash val="solid"/>
          </a:ln>
        </p:spPr>
        <p:txBody>
          <a:bodyPr/>
          <a:lstStyle/>
          <a:p>
            <a:endParaRPr lang="es-CL" sz="2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1261872"/>
            <a:ext cx="50305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B63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Paper 1 (today's results)</a:t>
            </a:r>
            <a:endParaRPr lang="en-US" sz="2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85800" y="1965257"/>
            <a:ext cx="5030572" cy="18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4830A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Reduced-form effort + identified stock dynamics</a:t>
            </a:r>
            <a:endParaRPr lang="en-US" sz="2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5030572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Negative binomial trip equation, estimated separately by fleet.</a:t>
            </a:r>
            <a:endParaRPr lang="en-US" sz="20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Bayesian state-space stock dynamics with structural climate shifters (in appendix).</a:t>
            </a:r>
            <a:endParaRPr lang="en-US" sz="20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Comparative statics under future climate scenarios.</a:t>
            </a:r>
            <a:endParaRPr lang="en-US" sz="2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75324" y="1261872"/>
            <a:ext cx="50305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B63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Paper 2 (today's roadmap)</a:t>
            </a:r>
            <a:endParaRPr lang="en-US" sz="2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75324" y="1805237"/>
            <a:ext cx="50305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4830A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Welfare counterfactuals</a:t>
            </a:r>
            <a:endParaRPr lang="en-US" sz="2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75324" y="2514600"/>
            <a:ext cx="5130522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Translog cost function (trip-level, by fleet).</a:t>
            </a:r>
            <a:endParaRPr lang="en-US" sz="20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Inverse demand (IAIDS, 3SLS).</a:t>
            </a:r>
            <a:endParaRPr lang="en-US" sz="20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Dynamic vessel optimization ⇒ optimal T_g, h_gτ under different climate scenarios.</a:t>
            </a:r>
            <a:endParaRPr lang="en-US" sz="20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Welfare, prices, species substitution.</a:t>
            </a:r>
            <a:endParaRPr lang="en-US" sz="2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5389685"/>
            <a:ext cx="11277295" cy="873955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5389685"/>
            <a:ext cx="54864" cy="873955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94360" y="5389685"/>
            <a:ext cx="11094415" cy="885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The two papers share </a:t>
            </a:r>
            <a:r>
              <a:rPr lang="en-US" b="1" i="1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the same identified stock dynamics</a:t>
            </a:r>
            <a:r>
              <a:rPr lang="en-US" i="1" dirty="0">
                <a:solidFill>
                  <a:srgbClr val="0A254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. Paper 1 stops at participation; Paper 2 closes the loop through prices, cost and profits to estimate optimal harvest and quota allocation.</a:t>
            </a:r>
            <a:endParaRPr lang="en-US" i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ICES/PICES SPF · La Paz · May 2026</a:t>
            </a:r>
            <a:endParaRPr lang="en-US" sz="1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3</a:t>
            </a:r>
            <a:endParaRPr lang="en-US" sz="1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3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2651760"/>
            <a:ext cx="1097280" cy="0"/>
          </a:xfrm>
          <a:prstGeom prst="line">
            <a:avLst/>
          </a:prstGeom>
          <a:noFill/>
          <a:ln w="3175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Setting and observed heterogeneity</a:t>
            </a:r>
            <a:endParaRPr lang="en-US" sz="4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Chile's Small Pelagic Fishery (Centro-Sur)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 &amp; sectors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48777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Anchoveta (Engraulis ringens), sardine (Strangomera bentincki), jack mackerel (Trachurus murphyi).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~94% of national landings; mostly purse seiners.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sectors: artisanal (ART), industrial (IND).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24612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regime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5487772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 split between sectors with limited cross-sector transferability.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 quotas partially tradable within sector; ART under spatial collective-property rights (RAE).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46724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portfolios are very different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46724" y="1463040"/>
            <a:ext cx="548777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ART: ~ {anchoveta, sardine}. Concentrated.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IND: ~ 95% jack mackerel + 5% sardine.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46724" y="28803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46724" y="3291840"/>
            <a:ext cx="548777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IND: offshore purse-seiners.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ART: port-anchored, RAE binds spatially.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46724" y="4663440"/>
            <a:ext cx="54877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C48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Same shock, different choices.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4632" y="150876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Observed strategy switching — ART vs IND</a:t>
            </a:r>
            <a:endParaRPr lang="en-US" sz="2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 sz="2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54877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3B63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Artisanal</a:t>
            </a:r>
            <a:endParaRPr lang="en-US" sz="2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Image 0" descr="/sessions/tender-gallant-volta/mnt/outputs/pices_build/assets/strategy_transitions_AR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371600"/>
            <a:ext cx="5487772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46724" y="1005840"/>
            <a:ext cx="54877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3B63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Industrial</a:t>
            </a:r>
            <a:endParaRPr lang="en-US" sz="2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7" name="Image 1" descr="/sessions/tender-gallant-volta/mnt/outputs/pices_build/assets/strategy_transitions_IN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46724" y="1371600"/>
            <a:ext cx="5487772" cy="3840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5257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Trip-level target-species transitions, IFOP logbooks 2013–2024.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57200" y="5669280"/>
            <a:ext cx="11277295" cy="6858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6"/>
          <p:cNvSpPr/>
          <p:nvPr/>
        </p:nvSpPr>
        <p:spPr>
          <a:xfrm>
            <a:off x="457200" y="5669280"/>
            <a:ext cx="54864" cy="685800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7"/>
          <p:cNvSpPr/>
          <p:nvPr/>
        </p:nvSpPr>
        <p:spPr>
          <a:xfrm>
            <a:off x="594360" y="5742432"/>
            <a:ext cx="1109441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ART: anchoveta↔sardine dominates; jack mackerel essentially absent. IND: rotation across all three. Same fishery, very different revealed choice sets.</a:t>
            </a:r>
            <a:endParaRPr lang="en-US" i="1" dirty="0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3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2651760"/>
            <a:ext cx="1097280" cy="0"/>
          </a:xfrm>
          <a:prstGeom prst="line">
            <a:avLst/>
          </a:prstGeom>
          <a:noFill/>
          <a:ln w="3175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1 — The NB trip equation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binomial model of annual trips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Specification, by fleet g (ART, IND)</a:t>
            </a:r>
            <a:endParaRPr lang="en-US" sz="1700" dirty="0"/>
          </a:p>
        </p:txBody>
      </p:sp>
      <p:pic>
        <p:nvPicPr>
          <p:cNvPr id="5" name="Image 0" descr="/sessions/tender-gallant-volta/mnt/outputs/pices_build/assets/eq_nb_ma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508760"/>
            <a:ext cx="512064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03120"/>
            <a:ext cx="54877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U_vy = [ p_sy,  H^alloc_vy,  Z_v,  O_vy ]: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2468880"/>
            <a:ext cx="548777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p_sy: ex-vessel prices, by species.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H^alloc_vy: vessel-level quota allocation.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Z_v: hold capacity, vessel type.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O_vy: bad-weather days, closures.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α_y^g: year FE (absorbs 2019–22 shocks).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Vessel-clustered robust SEs.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246724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NB by fleet?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246724" y="1463040"/>
            <a:ext cx="54877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Overdispersion σ²/μ: 22.4 (ART), 4.9 (IND). Poisson rejected at p &lt; 0.001.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fleets, two technologies, two choice sets — no pooling.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246724" y="292608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channels to projections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246724" y="3337560"/>
            <a:ext cx="548777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Indirect: structural shifters ρ_SST, ρ_CHL → B_i,t → H^alloc_vy. (Jurel: ρ_ENSO over Niño 3.4 also not identified — App. D-ter.)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vessel-specific Δbad-weather days from CMIP6 winds.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fisher participation?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3072384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39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Artisanal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H^alloc (quota allocation)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(+)***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(+)***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 = binding budget constraint, both fleets.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— jack mackerel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(+)***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 oriented to jack mackerel; ART has no exposure.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— sardine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(+)***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Sardine is ART's primary target.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— anchoveta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(−)***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Simultaneity sign.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capacity (log)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(+)***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Heterogeneity is within the artisanal fleet.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Bad-weather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(−)***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 vulnerable; IND insulated by vessel size.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(−)***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(+)***†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IND: largest single coef.  ART: zone FE collinear (†).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4632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binomial with year FE, vessel-clustered robust SEs. Sign and significance shown. *** p &lt; 0.01. † zone-FE collinear (not causally interpretable).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5852160"/>
            <a:ext cx="11277295" cy="5029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Shape 4"/>
          <p:cNvSpPr/>
          <p:nvPr/>
        </p:nvSpPr>
        <p:spPr>
          <a:xfrm>
            <a:off x="457200" y="5852160"/>
            <a:ext cx="54864" cy="502920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594360" y="58521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fleets, completely different participation models.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4" name="Text 7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statics — the fleet asymmetry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19202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Counterfactual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%ΔT marginal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%ΔT conditional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Pr(portfolio loss &gt; 50%)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Artisanal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mid-century, moderate (SSP2-4.5)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end-century, severe (SSP5-8.5)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mid-century, moderate (SSP2-4.5)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end-century, severe (SSP5-8.5)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0040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%ΔT: change in annual trips vs baseline. Marginal averages over all posterior draws. Conditional restricts to draws with f^H_v &gt; 0.5. Cross-median across a 6-model CMIP6 ensemble. NB with year FE.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3794760"/>
            <a:ext cx="548777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asymmetry ~11:1 ART:IND; conditional ~3.4:1.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portfolio collapse near-certain by SSP5-8.5 end.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Asymmetry runs through probability of portfolio collapse × direct weather (β_w^ART &lt; 0, β_w^IND ≈ 0); quota cross-sector limits lock it in.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246724" y="3794760"/>
            <a:ext cx="548777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IND's protection rests on jack mackerel — long-run shifter n.i. at both local and basin scales (App. D-ter).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channels: direct vs indirect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77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(biomass → allocation):</a:t>
            </a:r>
            <a:endParaRPr lang="en-US" sz="1400" dirty="0"/>
          </a:p>
        </p:txBody>
      </p:sp>
      <p:pic>
        <p:nvPicPr>
          <p:cNvPr id="6" name="Image 0" descr="/sessions/tender-gallant-volta/mnt/outputs/pices_build/assets/eq_indirec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874520"/>
            <a:ext cx="512064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423160"/>
            <a:ext cx="5487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Jurel: ρ_ENSO over Niño 3.4 also not identified (App. D-ter).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834640"/>
            <a:ext cx="54877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(weather → trips):</a:t>
            </a:r>
            <a:endParaRPr lang="en-US" sz="1400" dirty="0"/>
          </a:p>
        </p:txBody>
      </p:sp>
      <p:pic>
        <p:nvPicPr>
          <p:cNvPr id="9" name="Image 1" descr="/sessions/tender-gallant-volta/mnt/outputs/pices_build/assets/eq_direc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48640" y="3200400"/>
            <a:ext cx="512064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46724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End-century SSP5-8.5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6724" y="1463040"/>
          <a:ext cx="5486400" cy="12344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Artisanal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−9.0 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 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−0.8 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 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852160"/>
            <a:ext cx="11277295" cy="5029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Shape 8"/>
          <p:cNvSpPr/>
          <p:nvPr/>
        </p:nvSpPr>
        <p:spPr>
          <a:xfrm>
            <a:off x="457200" y="5852160"/>
            <a:ext cx="54864" cy="502920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9"/>
          <p:cNvSpPr/>
          <p:nvPr/>
        </p:nvSpPr>
        <p:spPr>
          <a:xfrm>
            <a:off x="594360" y="58521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(biomass) carries most of the asymmetry; direct (weather) reinforces it where vessels are exposed (ART). Both channels point the same way.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3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2651760"/>
            <a:ext cx="1097280" cy="0"/>
          </a:xfrm>
          <a:prstGeom prst="line">
            <a:avLst/>
          </a:prstGeom>
          <a:noFill/>
          <a:ln w="3175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— closing the loop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structural extensions ⇒ welfare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added on top of Paper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777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Trip-level cost function</a:t>
            </a: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translog C_vg(w, h, x, Z, Env), SUR by fleet. Recovers input demands (fuel, labor, ice) and elasticities of input substitution under climate shocks.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(ii) Inverse demand (IAIDS)</a:t>
            </a: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log p_iy as a function of all species' landings, instrumented by SST, CHL, fuel prices. Resolves the simultaneity observed in Paper 1.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(iii) Vessel dynamic optimization</a:t>
            </a: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see equation below. (T*_g, h*_gτ) under each scenario.</a:t>
            </a:r>
            <a:endParaRPr lang="en-US" sz="1300" dirty="0"/>
          </a:p>
        </p:txBody>
      </p:sp>
      <p:pic>
        <p:nvPicPr>
          <p:cNvPr id="6" name="Image 0" descr="/sessions/tender-gallant-volta/mnt/outputs/pices_build/assets/eq_dynop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4754880"/>
            <a:ext cx="411480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46724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model allows for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246724" y="1463040"/>
            <a:ext cx="548777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Prediction under a changing climate of: Equilibrium prices and species substitution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(ii) Define optimal quota allocation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(iii) Study policy reforms (counterfactuals) as adaptation:</a:t>
            </a:r>
            <a:endParaRPr lang="en-US" sz="13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Cross-sector quota transferability.</a:t>
            </a:r>
            <a:endParaRPr lang="en-US" sz="13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RAE redesign (multi-zone permits).</a:t>
            </a:r>
            <a:endParaRPr lang="en-US" sz="1300" dirty="0"/>
          </a:p>
          <a:p>
            <a:pPr marL="685800" lvl="1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State-contingent TACs.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72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C48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1: </a:t>
            </a:r>
            <a:r>
              <a:rPr lang="en-US" sz="16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fleet-specific NB model of annual trips reveals two completely different participation technologies in the same fishery.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127729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C48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1: </a:t>
            </a:r>
            <a:r>
              <a:rPr lang="en-US" sz="16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counterfactual shocks, the marginal ART:IND participation asymmetry is ~11:1 (conditional ~3.4:1), running through (i) the probability of portfolio collapse in the indirect biomass channel and (ii) direct weather exposure (β_w^ART &lt; 0, β_w^IND ≈ 0); quota cross-sector limits lock it in.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112772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48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2: </a:t>
            </a:r>
            <a:r>
              <a:rPr lang="en-US" sz="16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loop — input demand, inverse demand, vessel × social-planner joint optimization — to deliver welfare counterfactuals: equilibrium prices, species substitution &amp; optimal quota allocation, and policy reforms.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5669280"/>
            <a:ext cx="11277295" cy="8686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457200" y="5669280"/>
            <a:ext cx="54864" cy="868680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594360" y="56692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capacity is not a property of fishers; it is a property of the bundle (portfolio × permit × institution × market) they sit in. Identifying adaptation requires modeling all four dimensions jointly — pooling, fixed prices, or aggregate effort all bias the answer.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3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72888" y="1417320"/>
            <a:ext cx="1645920" cy="0"/>
          </a:xfrm>
          <a:prstGeom prst="line">
            <a:avLst/>
          </a:prstGeom>
          <a:noFill/>
          <a:ln w="3175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6002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¡Gracias! / Thank you</a:t>
            </a:r>
            <a:endParaRPr lang="en-US" sz="4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C4830A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Questions?</a:t>
            </a:r>
            <a:endParaRPr lang="en-US" sz="2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4400" y="361188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Felipe J. Quezada-Escalona</a:t>
            </a:r>
            <a:endParaRPr lang="en-US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402336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BD5E1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felipequezada@udec.cl   ·   felipequezada.com</a:t>
            </a:r>
            <a:endParaRPr lang="en-US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914400" y="63550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Funded by ANID-Chile, FONDECYT Iniciación N° 11250223.</a:t>
            </a:r>
            <a:endParaRPr lang="en-US" sz="1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1E24235-D95B-3370-C72D-E33DE6D45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177" y="4594860"/>
            <a:ext cx="929046" cy="155448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9CF309E6-8482-830B-C84B-8EEBD4BFC9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1998" y="5053014"/>
            <a:ext cx="3018694" cy="77533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3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2651760"/>
            <a:ext cx="1097280" cy="0"/>
          </a:xfrm>
          <a:prstGeom prst="line">
            <a:avLst/>
          </a:prstGeom>
          <a:noFill/>
          <a:ln w="3175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· Stock dynamics — spec &amp; priors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036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(Schaefer with shifter on r):</a:t>
            </a:r>
            <a:endParaRPr lang="en-US" sz="1400" dirty="0"/>
          </a:p>
        </p:txBody>
      </p:sp>
      <p:pic>
        <p:nvPicPr>
          <p:cNvPr id="5" name="Image 0" descr="/sessions/tender-gallant-volta/mnt/outputs/pices_build/assets/eq_schaef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463040"/>
            <a:ext cx="548640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057400"/>
            <a:ext cx="6036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r_{i,t} = r_i^0 · exp(ρ_i^SST ΔSST_{t-1} + ρ_i^CHL Δlog CHL_{t-1}).</a:t>
            </a:r>
            <a:endParaRPr lang="en-US" sz="1200" dirty="0"/>
          </a:p>
        </p:txBody>
      </p:sp>
      <p:pic>
        <p:nvPicPr>
          <p:cNvPr id="7" name="Image 1" descr="/sessions/tender-gallant-volta/mnt/outputs/pices_build/assets/eq_r_shift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4360" y="2423160"/>
            <a:ext cx="566928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2971800"/>
            <a:ext cx="60364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Stock-specific extension executed: jurel forced by ρ_ENSO over Niño 3.4 also not identified (σ_post/σ_prior = 0.98, lag 1) — see App. D-ter.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57200" y="3611880"/>
            <a:ext cx="60364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(log-normal):</a:t>
            </a:r>
            <a:endParaRPr lang="en-US" sz="1400" dirty="0"/>
          </a:p>
        </p:txBody>
      </p:sp>
      <p:pic>
        <p:nvPicPr>
          <p:cNvPr id="10" name="Image 2" descr="/sessions/tender-gallant-volta/mnt/outputs/pices_build/assets/eq_obs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4360" y="3977640"/>
            <a:ext cx="365760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4526280"/>
            <a:ext cx="60364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nested specs: ind, omega, full.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585052" y="1051560"/>
            <a:ext cx="53048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Priors: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6585052" y="1463040"/>
            <a:ext cx="53048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r_i^0, K_i, σ_proc, σ_obs from IFOP / SPRFMO single-species assessments.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ρ_i^SST, ρ_i^CHL ~ N(ρ̂_i^stress, 1).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Ω: LKJ.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6585052" y="3886200"/>
            <a:ext cx="53048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Estimation: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585052" y="4251960"/>
            <a:ext cx="53048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 / HMC, 4 chains × 2000 post-warmup; R̂ &lt; 1.01, ESS &gt; 400.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 · Climate shifters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4" name="Image 0" descr="/sessions/tender-gallant-volta/mnt/outputs/pices_build/assets/t4b_full_rho_shifter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28800" y="1188720"/>
            <a:ext cx="8503920" cy="4389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densities of ρ^SST and ρ^CHL, full multi-species specification. Anchoveta and common sardine: priors dominated by data. Jack mackerel: posteriors track priors → n.i. at the local coastal and basin scale (App. D-bis).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 · Stock productivity comparative statics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914400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Δr/r₀ (cross-median)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CI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Pr(Δ &lt; 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Anchoveta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SSP2-4.5, mid-century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[−68%, −27%]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SSP5-8.5, end-century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[−98%, −54%]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Sardine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SSP2-4.5, mid-century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[−86%, −67%]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SSP5-8.5, end-century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[−100%, −99%]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 mackerel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scenarios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n.i.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n.i.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n.i.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11277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Cross-median across CMIP6 ensemble of 6 GCMs (CESM2, CNRM-ESM2-1, GFDL-ESM4, IPSL-CM6A-LR, MPI-ESM1-2-HR, UKESM1-0-LL); 90% CI is the within-posterior credible interval averaged across models. Jurel: local (SST_D1, log CHL_D1) shifter and basin-scale ENSO both n.i. (App. D-ter).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· Jack mackerel — non-identification ≠ no climate effect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readings to keep separate: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Non-identification at the CS scale</a:t>
            </a:r>
            <a:r>
              <a:rPr lang="en-US" sz="16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 the structural fit reports. With N = 16 informative obs and σ̂_SST,D1 ≈ 0.26°C, only large local elasticities would be detectable.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1127729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insensitivity of jack mackerel</a:t>
            </a:r>
            <a:r>
              <a:rPr lang="en-US" sz="16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not what the result implies. Peña-Torres et al. (2017) (ENSO &amp; location choices) and Arcos et al. (2001) (SPRFMO-scale dynamics) document that climate does affect this stock at scales beyond local Chilean coastal anomalies.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· Jack mackerel — three convergent tests of the local null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 scale, coastal forcing)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7295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Spatial-domain robustness. </a:t>
            </a: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Re-fits over 3 nested coastal domains: σ_post/σ_prior for ρ^SST_jurel stays in [0.998, 1.014]. Anch &amp; sard stable (CV &lt; 0.03).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11277295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(ii) Dual-source biomass. </a:t>
            </a: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with IFOP Northern Chile acoustic series (2010–24, r_log = 0.88): σ_post/σ_prior ∈ {0.94, 0.99}. Bottleneck is structural, not 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11277295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(iii) OROP-PS coherence. </a:t>
            </a:r>
            <a:r>
              <a:rPr lang="en-US" sz="14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SPRFMO transzonal index correlates with CS at r = 0.11 over N = 17 — range-wide forcing cannot pin it down either.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5486400"/>
            <a:ext cx="11277295" cy="9144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457200" y="5486400"/>
            <a:ext cx="54864" cy="914400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594360" y="54864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The local null is robust. Natural reading: relevant climatic drivers operate at scales beyond CS coastal forcing — consistent with a transboundary species. Tested on the obvious basin-scale candidate next (App. D-bis/ter).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D-bis — ENSO as basin-scale shifter (spec)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4877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Jurel CS responds to ENSO via teleconnections, not local CS coastal anomalies.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548777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 / sard: unchanged.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Jurel: replace (SST_D1, log CHL_D1) by single shifter ρ_ENSO over Niño 3.4.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Lags t-1 (main), t-2 (sensitivity).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46724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46724" y="1463040"/>
            <a:ext cx="54877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Niño 3.4: OISST / ERSST.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CMIP6: 6-GCM ensemble re-extracted over Niño 3.4.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Stan architecture as App. E (stock-specific shifters).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Prior: ρ_ENSO ~ N(0, 0.5) — 1σ_ENSO shock ⇒ ≤ 65% change in 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5852160"/>
            <a:ext cx="11277295" cy="5029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457200" y="5852160"/>
            <a:ext cx="54864" cy="502920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594360" y="58521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executed — lag 1, lag 2, joint sensitivity. All converging on null. Result in App. D-ter.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D-ter — ENSO: result of the asymmetric bet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 materialised — null reinforced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4877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σ / prior σ for ρ_ENSO,jurel at N(0, 0.5):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548777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1: ρ = −0.022, 90% CI [−0.81, +0.80], ratio = 0.979.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2: ρ = +0.021, 90% CI [−0.79, +0.87], ratio = 1.014.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(SST_D1 + log CHL_D1 + ENSO active): all three ratios ∈ {0.98, 1.00, 1.03}.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114800"/>
            <a:ext cx="54877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C48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5 converging tests of the null (vs. 3 pre-ENSO).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46724" y="1051560"/>
            <a:ext cx="54877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Prior-propagation projection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46724" y="1463040"/>
            <a:ext cx="54877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on r*_jur under SSP5-8.5 end-of-century, combining 16k posterior draws with the 6-GCM ensemble of ΔENSO Niño 3.4 (+3.65 ± 0.88 °C):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46724" y="2423160"/>
            <a:ext cx="54877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predictive interval: [0.05, 19.5].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Median: 0.93. log-factor SD: 1.83.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46724" y="3794760"/>
            <a:ext cx="54877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Envelope spans 3 orders of magnitude ⇒ not informative for policy ⇒ r*_jurel held fixed in Tab. of fleet response.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5852160"/>
            <a:ext cx="11277295" cy="5029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457200" y="5852160"/>
            <a:ext cx="54864" cy="502920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594360" y="58521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Climate effects on jurel operate on margins (location, behaviour, range) — NOT on annual productivity elasticity at this aggregation.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E · Model comparison (LOO)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4" name="Image 0" descr="/sessions/tender-gallant-volta/mnt/outputs/pices_build/assets/loo_t4b_elpd_stock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94560" y="109728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440680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 ELPD across specs: ind (Ω diagonal, ρ=0), omega (Ω full, ρ=0), full (Ω full, ρ ≠ 0). Full wins at ΔELPD ≈ 14–18; LFO one-step-ahead essentially tied.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F · Posterior predictive check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4" name="Image 0" descr="/sessions/tender-gallant-volta/mnt/outputs/pices_build/assets/t4b_ppc_B_smooth_vs_ob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54480" y="1097280"/>
            <a:ext cx="9052560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5778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Smoothed posterior of biomass vs observed acoustic estimates, full model.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· CMIP6 ensemble — ridgeline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4" name="Image 0" descr="/sessions/tender-gallant-volta/mnt/outputs/pices_build/assets/growth_ridgeline_cmip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54480" y="1097280"/>
            <a:ext cx="9052560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5778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Δr/r₀ across SSP × period combinations, one ridge per CMIP6 model (6-GCM ensemble).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H · Variance decomposition of trip response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4" name="Image 0" descr="/sessions/tender-gallant-volta/mnt/outputs/pices_build/assets/appendix_g_trips_variance_decomposi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0" y="1097280"/>
            <a:ext cx="4846320" cy="3017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251960"/>
            <a:ext cx="1127729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Within-model (posterior + vessel heterogeneity) dominates: 97%–100% across all SSP × period × fleet cells (re-computed after the direct weather channel was added).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Between-model (CMIP6 ensemble): at most 3%, often ≈ 0.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narrow cross-IQR in Table 5 is NOT climate-model consensus — it is a floor effect: once f^H_v → 0, %ΔT → exp(−β_g · H^alloc_v) — a fleet-mechanical quantity, not a climate magnitude.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7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3B63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Appendix I · Paper 2 — data inputs</a:t>
            </a:r>
            <a:endParaRPr lang="en-US" sz="2800" dirty="0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905256"/>
            <a:ext cx="1280160" cy="0"/>
          </a:xfrm>
          <a:prstGeom prst="line">
            <a:avLst/>
          </a:prstGeom>
          <a:noFill/>
          <a:ln w="254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36289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Trip-level catch and price data (IFOP logbooks, 2013–2024).</a:t>
            </a:r>
            <a:endParaRPr lang="en-US" sz="1600" dirty="0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All-gear official catch series (SERNAPESCA).</a:t>
            </a:r>
            <a:endParaRPr lang="en-US" sz="1600" dirty="0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Vessel characteristics &amp; ports of operation.</a:t>
            </a:r>
            <a:endParaRPr lang="en-US" sz="1600" dirty="0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Environmental covariates (Copernicus, GlobColour, CMIP6 6-GCM ensemble).</a:t>
            </a:r>
            <a:endParaRPr lang="en-US" sz="1600" dirty="0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ICES/PICES SPF · La Paz · May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362895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AC9262E5-8497-CAAC-B082-2DA1082BC88E}"/>
              </a:ext>
            </a:extLst>
          </p:cNvPr>
          <p:cNvSpPr/>
          <p:nvPr/>
        </p:nvSpPr>
        <p:spPr>
          <a:xfrm>
            <a:off x="457352" y="4777740"/>
            <a:ext cx="11277295" cy="8686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081E615B-42E4-27D0-5666-B526C7A3683F}"/>
              </a:ext>
            </a:extLst>
          </p:cNvPr>
          <p:cNvSpPr/>
          <p:nvPr/>
        </p:nvSpPr>
        <p:spPr>
          <a:xfrm>
            <a:off x="457352" y="4777740"/>
            <a:ext cx="54864" cy="868680"/>
          </a:xfrm>
          <a:prstGeom prst="rect">
            <a:avLst/>
          </a:prstGeom>
          <a:solidFill>
            <a:srgbClr val="C4830A"/>
          </a:solidFill>
          <a:ln w="12700">
            <a:solidFill>
              <a:srgbClr val="C4830A"/>
            </a:solidFill>
            <a:prstDash val="solid"/>
          </a:ln>
        </p:spPr>
        <p:txBody>
          <a:bodyPr/>
          <a:lstStyle/>
          <a:p>
            <a:endParaRPr lang="es-CL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6C75FE09-A452-FF0E-3AA4-2B4C070FA6C1}"/>
              </a:ext>
            </a:extLst>
          </p:cNvPr>
          <p:cNvSpPr/>
          <p:nvPr/>
        </p:nvSpPr>
        <p:spPr>
          <a:xfrm>
            <a:off x="594512" y="47777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2540"/>
                </a:solidFill>
                <a:latin typeface="Poppins" panose="00000500000000000000" pitchFamily="2" charset="0"/>
                <a:ea typeface="Roboto" panose="02000000000000000000" pitchFamily="2" charset="0"/>
                <a:cs typeface="Poppins" panose="00000500000000000000" pitchFamily="2" charset="0"/>
              </a:rPr>
              <a:t>Caveat — IFOP panel coverage covers the purse-seine artisanal subset; non-PS gears (lampara, lines) excluded.</a:t>
            </a:r>
            <a:endParaRPr lang="en-US" sz="1300" dirty="0">
              <a:latin typeface="Poppins" panose="00000500000000000000" pitchFamily="2" charset="0"/>
              <a:ea typeface="Roboto" panose="02000000000000000000" pitchFamily="2" charset="0"/>
              <a:cs typeface="Poppins" panose="000005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3027</Words>
  <Application>Microsoft Office PowerPoint</Application>
  <PresentationFormat>Panorámica</PresentationFormat>
  <Paragraphs>337</Paragraphs>
  <Slides>28</Slides>
  <Notes>28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Arial</vt:lpstr>
      <vt:lpstr>Calibri</vt:lpstr>
      <vt:lpstr>Poppins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Environmental Variability on Fishers' Harvest Decisions in Chile</dc:title>
  <dc:subject>ICES/PICES Small Pelagic Symposium — La Paz, May 2026</dc:subject>
  <dc:creator>Felipe J. Quezada-Escalona</dc:creator>
  <cp:lastModifiedBy>Felipe Javier Quezada Escalona</cp:lastModifiedBy>
  <cp:revision>3</cp:revision>
  <dcterms:created xsi:type="dcterms:W3CDTF">2026-05-04T20:07:32Z</dcterms:created>
  <dcterms:modified xsi:type="dcterms:W3CDTF">2026-05-04T20:29:43Z</dcterms:modified>
</cp:coreProperties>
</file>